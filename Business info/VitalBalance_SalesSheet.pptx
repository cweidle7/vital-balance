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34" d="100"/>
          <a:sy n="134" d="100"/>
        </p:scale>
        <p:origin x="258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E85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VITAL BALANCE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20624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DD0F0"/>
                </a:solidFill>
                <a:latin typeface="Calibri"/>
              </a:rPr>
              <a:t>Regenerative Wellness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09728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DD0F0"/>
                </a:solidFill>
                <a:latin typeface="Calibri"/>
              </a:rPr>
              <a:t>PRODUCT CATALOG  |  JANUARY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841248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B3A6B"/>
                </a:solidFill>
                <a:latin typeface="Calibri"/>
              </a:rPr>
              <a:t>Regenerative Medicine Products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298448"/>
            <a:ext cx="8595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B7280"/>
                </a:solidFill>
                <a:latin typeface="Calibri"/>
              </a:rPr>
              <a:t>Institutional-grade biologics sourced from an FDA-certified lab  •  For licensed healthcare providers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54480"/>
            <a:ext cx="8595360" cy="27432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28600" y="1627632"/>
            <a:ext cx="4206240" cy="1463040"/>
          </a:xfrm>
          <a:prstGeom prst="rect">
            <a:avLst/>
          </a:prstGeom>
          <a:solidFill>
            <a:srgbClr val="EEF2F8"/>
          </a:solidFill>
          <a:ln w="6350">
            <a:solidFill>
              <a:srgbClr val="D0D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28600" y="1627632"/>
            <a:ext cx="4206240" cy="50292"/>
          </a:xfrm>
          <a:prstGeom prst="rect">
            <a:avLst/>
          </a:prstGeom>
          <a:solidFill>
            <a:srgbClr val="E85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8328" y="1719072"/>
            <a:ext cx="731520" cy="25603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8328" y="171907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VB-CB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" y="202996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  <a:latin typeface="Calibri"/>
              </a:rPr>
              <a:t>Umbilical Cord Blood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" y="230428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Calibri"/>
              </a:rPr>
              <a:t>Mesenchymal Stem Cells  •  Hematopoietic Progenitor Cells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" y="2468880"/>
            <a:ext cx="3931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B7280"/>
                </a:solidFill>
                <a:latin typeface="Calibri"/>
              </a:rPr>
              <a:t>Proteins  •  Cytokines  •  Growth Factors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" y="2660904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D5499"/>
                </a:solidFill>
                <a:latin typeface="Calibri"/>
              </a:rPr>
              <a:t>Admin: IV  IM  ID  IA 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" y="28620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512A"/>
                </a:solidFill>
                <a:latin typeface="Calibri"/>
              </a:rPr>
              <a:t>.50 mL — $500    1.0 mL — $900    2.0 mL — $1,800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1627632"/>
            <a:ext cx="4206240" cy="1463040"/>
          </a:xfrm>
          <a:prstGeom prst="rect">
            <a:avLst/>
          </a:prstGeom>
          <a:solidFill>
            <a:srgbClr val="EEF2F8"/>
          </a:solidFill>
          <a:ln w="6350">
            <a:solidFill>
              <a:srgbClr val="D0D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663440" y="1627632"/>
            <a:ext cx="4206240" cy="50292"/>
          </a:xfrm>
          <a:prstGeom prst="rect">
            <a:avLst/>
          </a:prstGeom>
          <a:solidFill>
            <a:srgbClr val="E85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773168" y="1719072"/>
            <a:ext cx="731520" cy="25603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73168" y="171907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VB-WJ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73168" y="2029968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  <a:latin typeface="Calibri"/>
              </a:rPr>
              <a:t>Wharton's Jelly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73168" y="230428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Calibri"/>
              </a:rPr>
              <a:t>Mesenchymal Stem Cells  •  Extracellular Matrix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73168" y="2468880"/>
            <a:ext cx="3931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B7280"/>
                </a:solidFill>
                <a:latin typeface="Calibri"/>
              </a:rPr>
              <a:t>Collagen  •  Hyaluronic Acid  •  Growth Factors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73168" y="2660904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D5499"/>
                </a:solidFill>
                <a:latin typeface="Calibri"/>
              </a:rPr>
              <a:t>Admin: IV  IM  ID  IA  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73168" y="28620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512A"/>
                </a:solidFill>
                <a:latin typeface="Calibri"/>
              </a:rPr>
              <a:t>1.0 mL — $1,000    2.0 mL — $2,000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3200400"/>
            <a:ext cx="4206240" cy="1463040"/>
          </a:xfrm>
          <a:prstGeom prst="rect">
            <a:avLst/>
          </a:prstGeom>
          <a:solidFill>
            <a:srgbClr val="EEF2F8"/>
          </a:solidFill>
          <a:ln w="6350">
            <a:solidFill>
              <a:srgbClr val="D0D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28600" y="3200400"/>
            <a:ext cx="4206240" cy="50292"/>
          </a:xfrm>
          <a:prstGeom prst="rect">
            <a:avLst/>
          </a:prstGeom>
          <a:solidFill>
            <a:srgbClr val="E85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38328" y="3291840"/>
            <a:ext cx="731520" cy="25603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38328" y="329184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VB-XO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" y="3602736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  <a:latin typeface="Calibri"/>
              </a:rPr>
              <a:t>Exosomes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" y="3877056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Calibri"/>
              </a:rPr>
              <a:t>Lipids  •  Enzymes  •  Nucleic Acids  •  MicroRNAs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8328" y="4041648"/>
            <a:ext cx="3931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B7280"/>
                </a:solidFill>
                <a:latin typeface="Calibri"/>
              </a:rPr>
              <a:t>Proteins  •  Cytokines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" y="4233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D5499"/>
                </a:solidFill>
                <a:latin typeface="Calibri"/>
              </a:rPr>
              <a:t>Admin: IV  IM  ID  IA  IT  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8328" y="443484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512A"/>
                </a:solidFill>
                <a:latin typeface="Calibri"/>
              </a:rPr>
              <a:t>1.0 mL — $900    2.0 mL — $1,000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63440" y="3200400"/>
            <a:ext cx="4206240" cy="1463040"/>
          </a:xfrm>
          <a:prstGeom prst="rect">
            <a:avLst/>
          </a:prstGeom>
          <a:solidFill>
            <a:srgbClr val="EEF2F8"/>
          </a:solidFill>
          <a:ln w="6350">
            <a:solidFill>
              <a:srgbClr val="D0D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663440" y="3200400"/>
            <a:ext cx="4206240" cy="50292"/>
          </a:xfrm>
          <a:prstGeom prst="rect">
            <a:avLst/>
          </a:prstGeom>
          <a:solidFill>
            <a:srgbClr val="E85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773168" y="3291840"/>
            <a:ext cx="731520" cy="25603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773168" y="3291840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VB-ECM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73168" y="3602736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  <a:latin typeface="Calibri"/>
              </a:rPr>
              <a:t>Amniotic ECM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73168" y="3877056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Calibri"/>
              </a:rPr>
              <a:t>Extracellular Matrix  •  Proteins  •  Cytokines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73168" y="4041648"/>
            <a:ext cx="3931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B7280"/>
                </a:solidFill>
                <a:latin typeface="Calibri"/>
              </a:rPr>
              <a:t>Growth Factors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73168" y="4233672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D5499"/>
                </a:solidFill>
                <a:latin typeface="Calibri"/>
              </a:rPr>
              <a:t>Admin: IM  ID  IA  IT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73168" y="443484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512A"/>
                </a:solidFill>
                <a:latin typeface="Calibri"/>
              </a:rPr>
              <a:t>1.0 mL — $1,000    2.0 mL — $2,000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28600" y="47731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Overnight Shipping (by 10:30am):  $150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14600" y="47731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Handling Fee:  $15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0" y="47731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Local / Same-Day Delivery:  $35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0840" y="477316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BDD0F0"/>
                </a:solidFill>
                <a:latin typeface="Calibri"/>
              </a:rPr>
              <a:t>All fees in addition to product price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E85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VITAL BALANCE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20624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DD0F0"/>
                </a:solidFill>
                <a:latin typeface="Calibri"/>
              </a:rPr>
              <a:t>Regenerative Wellness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09728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DD0F0"/>
                </a:solidFill>
                <a:latin typeface="Calibri"/>
              </a:rPr>
              <a:t>SALES REP PRICING &amp; COMMISSION GUIDE  | 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841248"/>
            <a:ext cx="8595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B3A6B"/>
                </a:solidFill>
                <a:latin typeface="Calibri"/>
              </a:rPr>
              <a:t>Your Pricing &amp; Commission at a Glance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261872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8512A"/>
                </a:solidFill>
                <a:latin typeface="Calibri"/>
              </a:rPr>
              <a:t>Retail = Your Cost + 50% to 100%   •   Your Commission = 50% of Margin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609344"/>
            <a:ext cx="1481328" cy="329184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2608" y="1645920"/>
            <a:ext cx="14264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Product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55648" y="1609344"/>
            <a:ext cx="658368" cy="329184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792224" y="1645920"/>
            <a:ext cx="60350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Size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32304" y="1609344"/>
            <a:ext cx="932688" cy="329184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468880" y="1645920"/>
            <a:ext cx="877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Your Cost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1609344"/>
            <a:ext cx="1060704" cy="329184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19856" y="1645920"/>
            <a:ext cx="1005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Retail @+50%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62272" y="1609344"/>
            <a:ext cx="1060704" cy="329184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98848" y="1645920"/>
            <a:ext cx="1005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Retail @+100%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41264" y="1609344"/>
            <a:ext cx="1060704" cy="329184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577840" y="1645920"/>
            <a:ext cx="1005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Comm @+50%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20256" y="1609344"/>
            <a:ext cx="1060704" cy="329184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56832" y="1645920"/>
            <a:ext cx="1005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Comm @+100%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6032" y="1938528"/>
            <a:ext cx="1481328" cy="260603"/>
          </a:xfrm>
          <a:prstGeom prst="rect">
            <a:avLst/>
          </a:prstGeom>
          <a:solidFill>
            <a:srgbClr val="FFFFFF"/>
          </a:solidFill>
          <a:ln w="317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92608" y="1965960"/>
            <a:ext cx="1426464" cy="2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B3A6B"/>
                </a:solidFill>
                <a:latin typeface="Calibri"/>
              </a:rPr>
              <a:t>VB-CB  Cord Blood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55648" y="1938528"/>
            <a:ext cx="658368" cy="260603"/>
          </a:xfrm>
          <a:prstGeom prst="rect">
            <a:avLst/>
          </a:prstGeom>
          <a:solidFill>
            <a:srgbClr val="FFFFFF"/>
          </a:solidFill>
          <a:ln w="317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792224" y="1965960"/>
            <a:ext cx="603503" cy="2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F3D"/>
                </a:solidFill>
                <a:latin typeface="Calibri"/>
              </a:rPr>
              <a:t>.50 mL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32304" y="1938528"/>
            <a:ext cx="932688" cy="260603"/>
          </a:xfrm>
          <a:prstGeom prst="rect">
            <a:avLst/>
          </a:prstGeom>
          <a:solidFill>
            <a:srgbClr val="FFFFFF"/>
          </a:solidFill>
          <a:ln w="317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468880" y="1965960"/>
            <a:ext cx="877824" cy="2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F3D"/>
                </a:solidFill>
                <a:latin typeface="Calibri"/>
              </a:rPr>
              <a:t>$500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83280" y="1938528"/>
            <a:ext cx="1060704" cy="260603"/>
          </a:xfrm>
          <a:prstGeom prst="rect">
            <a:avLst/>
          </a:prstGeom>
          <a:solidFill>
            <a:srgbClr val="FFFFFF"/>
          </a:solidFill>
          <a:ln w="317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419856" y="1965960"/>
            <a:ext cx="1005839" cy="2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5499"/>
                </a:solidFill>
                <a:latin typeface="Calibri"/>
              </a:rPr>
              <a:t>$750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62272" y="1938528"/>
            <a:ext cx="1060704" cy="260603"/>
          </a:xfrm>
          <a:prstGeom prst="rect">
            <a:avLst/>
          </a:prstGeom>
          <a:solidFill>
            <a:srgbClr val="FFFFFF"/>
          </a:solidFill>
          <a:ln w="317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498848" y="1965960"/>
            <a:ext cx="1005839" cy="2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5499"/>
                </a:solidFill>
                <a:latin typeface="Calibri"/>
              </a:rPr>
              <a:t>$1,000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41264" y="1938528"/>
            <a:ext cx="1060704" cy="260603"/>
          </a:xfrm>
          <a:prstGeom prst="rect">
            <a:avLst/>
          </a:prstGeom>
          <a:solidFill>
            <a:srgbClr val="FDF1ED"/>
          </a:solidFill>
          <a:ln w="317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577840" y="1965960"/>
            <a:ext cx="1005839" cy="2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8512A"/>
                </a:solidFill>
                <a:latin typeface="Calibri"/>
              </a:rPr>
              <a:t>$125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20256" y="1938528"/>
            <a:ext cx="1060704" cy="260603"/>
          </a:xfrm>
          <a:prstGeom prst="rect">
            <a:avLst/>
          </a:prstGeom>
          <a:solidFill>
            <a:srgbClr val="FDF1ED"/>
          </a:solidFill>
          <a:ln w="317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56832" y="1965960"/>
            <a:ext cx="1005839" cy="2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8512A"/>
                </a:solidFill>
                <a:latin typeface="Calibri"/>
              </a:rPr>
              <a:t>$250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6032" y="2199132"/>
            <a:ext cx="1481328" cy="260603"/>
          </a:xfrm>
          <a:prstGeom prst="rect">
            <a:avLst/>
          </a:prstGeom>
          <a:solidFill>
            <a:srgbClr val="EEF2F8"/>
          </a:solidFill>
          <a:ln w="317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92608" y="2226564"/>
            <a:ext cx="1426464" cy="2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B3A6B"/>
                </a:solidFill>
                <a:latin typeface="Calibri"/>
              </a:rPr>
              <a:t>VB-CB  Cord Blood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755648" y="2199132"/>
            <a:ext cx="658368" cy="260603"/>
          </a:xfrm>
          <a:prstGeom prst="rect">
            <a:avLst/>
          </a:prstGeom>
          <a:solidFill>
            <a:srgbClr val="EEF2F8"/>
          </a:solidFill>
          <a:ln w="317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792224" y="2226564"/>
            <a:ext cx="603503" cy="2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F3D"/>
                </a:solidFill>
                <a:latin typeface="Calibri"/>
              </a:rPr>
              <a:t>1.0 mL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432304" y="2199132"/>
            <a:ext cx="932688" cy="260603"/>
          </a:xfrm>
          <a:prstGeom prst="rect">
            <a:avLst/>
          </a:prstGeom>
          <a:solidFill>
            <a:srgbClr val="EEF2F8"/>
          </a:solidFill>
          <a:ln w="317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468880" y="2226564"/>
            <a:ext cx="877824" cy="2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F3D"/>
                </a:solidFill>
                <a:latin typeface="Calibri"/>
              </a:rPr>
              <a:t>$900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83280" y="2199132"/>
            <a:ext cx="1060704" cy="260603"/>
          </a:xfrm>
          <a:prstGeom prst="rect">
            <a:avLst/>
          </a:prstGeom>
          <a:solidFill>
            <a:srgbClr val="EEF2F8"/>
          </a:solidFill>
          <a:ln w="317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419856" y="2226564"/>
            <a:ext cx="1005839" cy="2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5499"/>
                </a:solidFill>
                <a:latin typeface="Calibri"/>
              </a:rPr>
              <a:t>$1,350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62272" y="2199132"/>
            <a:ext cx="1060704" cy="260603"/>
          </a:xfrm>
          <a:prstGeom prst="rect">
            <a:avLst/>
          </a:prstGeom>
          <a:solidFill>
            <a:srgbClr val="EEF2F8"/>
          </a:solidFill>
          <a:ln w="317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498848" y="2226564"/>
            <a:ext cx="1005839" cy="2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5499"/>
                </a:solidFill>
                <a:latin typeface="Calibri"/>
              </a:rPr>
              <a:t>$1,800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541264" y="2199132"/>
            <a:ext cx="1060704" cy="260603"/>
          </a:xfrm>
          <a:prstGeom prst="rect">
            <a:avLst/>
          </a:prstGeom>
          <a:solidFill>
            <a:srgbClr val="FDF1ED"/>
          </a:solidFill>
          <a:ln w="317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577840" y="2226564"/>
            <a:ext cx="1005839" cy="2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8512A"/>
                </a:solidFill>
                <a:latin typeface="Calibri"/>
              </a:rPr>
              <a:t>$225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620256" y="2199132"/>
            <a:ext cx="1060704" cy="260603"/>
          </a:xfrm>
          <a:prstGeom prst="rect">
            <a:avLst/>
          </a:prstGeom>
          <a:solidFill>
            <a:srgbClr val="FDF1ED"/>
          </a:solidFill>
          <a:ln w="317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656832" y="2226564"/>
            <a:ext cx="1005839" cy="2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8512A"/>
                </a:solidFill>
                <a:latin typeface="Calibri"/>
              </a:rPr>
              <a:t>$450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56032" y="2459736"/>
            <a:ext cx="1481328" cy="260603"/>
          </a:xfrm>
          <a:prstGeom prst="rect">
            <a:avLst/>
          </a:prstGeom>
          <a:solidFill>
            <a:srgbClr val="FFFFFF"/>
          </a:solidFill>
          <a:ln w="317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92608" y="2487168"/>
            <a:ext cx="1426464" cy="2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B3A6B"/>
                </a:solidFill>
                <a:latin typeface="Calibri"/>
              </a:rPr>
              <a:t>VB-CB  Cord Blood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755648" y="2459736"/>
            <a:ext cx="658368" cy="260603"/>
          </a:xfrm>
          <a:prstGeom prst="rect">
            <a:avLst/>
          </a:prstGeom>
          <a:solidFill>
            <a:srgbClr val="FFFFFF"/>
          </a:solidFill>
          <a:ln w="317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792224" y="2487168"/>
            <a:ext cx="603503" cy="2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F3D"/>
                </a:solidFill>
                <a:latin typeface="Calibri"/>
              </a:rPr>
              <a:t>2.0 mL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432304" y="2459736"/>
            <a:ext cx="932688" cy="260603"/>
          </a:xfrm>
          <a:prstGeom prst="rect">
            <a:avLst/>
          </a:prstGeom>
          <a:solidFill>
            <a:srgbClr val="FFFFFF"/>
          </a:solidFill>
          <a:ln w="317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468880" y="2487168"/>
            <a:ext cx="877824" cy="2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F3D"/>
                </a:solidFill>
                <a:latin typeface="Calibri"/>
              </a:rPr>
              <a:t>$1,800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383280" y="2459736"/>
            <a:ext cx="1060704" cy="260603"/>
          </a:xfrm>
          <a:prstGeom prst="rect">
            <a:avLst/>
          </a:prstGeom>
          <a:solidFill>
            <a:srgbClr val="FFFFFF"/>
          </a:solidFill>
          <a:ln w="317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419856" y="2487168"/>
            <a:ext cx="1005839" cy="2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5499"/>
                </a:solidFill>
                <a:latin typeface="Calibri"/>
              </a:rPr>
              <a:t>$2,700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462272" y="2459736"/>
            <a:ext cx="1060704" cy="260603"/>
          </a:xfrm>
          <a:prstGeom prst="rect">
            <a:avLst/>
          </a:prstGeom>
          <a:solidFill>
            <a:srgbClr val="FFFFFF"/>
          </a:solidFill>
          <a:ln w="317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498848" y="2487168"/>
            <a:ext cx="1005839" cy="2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5499"/>
                </a:solidFill>
                <a:latin typeface="Calibri"/>
              </a:rPr>
              <a:t>$3,600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541264" y="2459736"/>
            <a:ext cx="1060704" cy="260603"/>
          </a:xfrm>
          <a:prstGeom prst="rect">
            <a:avLst/>
          </a:prstGeom>
          <a:solidFill>
            <a:srgbClr val="FDF1ED"/>
          </a:solidFill>
          <a:ln w="317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577840" y="2487168"/>
            <a:ext cx="1005839" cy="2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8512A"/>
                </a:solidFill>
                <a:latin typeface="Calibri"/>
              </a:rPr>
              <a:t>$450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620256" y="2459736"/>
            <a:ext cx="1060704" cy="260603"/>
          </a:xfrm>
          <a:prstGeom prst="rect">
            <a:avLst/>
          </a:prstGeom>
          <a:solidFill>
            <a:srgbClr val="FDF1ED"/>
          </a:solidFill>
          <a:ln w="317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656832" y="2487168"/>
            <a:ext cx="1005839" cy="2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8512A"/>
                </a:solidFill>
                <a:latin typeface="Calibri"/>
              </a:rPr>
              <a:t>$900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56032" y="2720340"/>
            <a:ext cx="1481328" cy="260603"/>
          </a:xfrm>
          <a:prstGeom prst="rect">
            <a:avLst/>
          </a:prstGeom>
          <a:solidFill>
            <a:srgbClr val="EEF2F8"/>
          </a:solidFill>
          <a:ln w="317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292608" y="2747772"/>
            <a:ext cx="1426464" cy="2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B3A6B"/>
                </a:solidFill>
                <a:latin typeface="Calibri"/>
              </a:rPr>
              <a:t>VB-WJ  Wharton's Jelly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755648" y="2720340"/>
            <a:ext cx="658368" cy="260603"/>
          </a:xfrm>
          <a:prstGeom prst="rect">
            <a:avLst/>
          </a:prstGeom>
          <a:solidFill>
            <a:srgbClr val="EEF2F8"/>
          </a:solidFill>
          <a:ln w="317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792224" y="2747772"/>
            <a:ext cx="603503" cy="2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F3D"/>
                </a:solidFill>
                <a:latin typeface="Calibri"/>
              </a:rPr>
              <a:t>1.0 mL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432304" y="2720340"/>
            <a:ext cx="932688" cy="260603"/>
          </a:xfrm>
          <a:prstGeom prst="rect">
            <a:avLst/>
          </a:prstGeom>
          <a:solidFill>
            <a:srgbClr val="EEF2F8"/>
          </a:solidFill>
          <a:ln w="317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2468880" y="2747772"/>
            <a:ext cx="877824" cy="2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F3D"/>
                </a:solidFill>
                <a:latin typeface="Calibri"/>
              </a:rPr>
              <a:t>$1,000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383280" y="2720340"/>
            <a:ext cx="1060704" cy="260603"/>
          </a:xfrm>
          <a:prstGeom prst="rect">
            <a:avLst/>
          </a:prstGeom>
          <a:solidFill>
            <a:srgbClr val="EEF2F8"/>
          </a:solidFill>
          <a:ln w="317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419856" y="2747772"/>
            <a:ext cx="1005839" cy="2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5499"/>
                </a:solidFill>
                <a:latin typeface="Calibri"/>
              </a:rPr>
              <a:t>$1,500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462272" y="2720340"/>
            <a:ext cx="1060704" cy="260603"/>
          </a:xfrm>
          <a:prstGeom prst="rect">
            <a:avLst/>
          </a:prstGeom>
          <a:solidFill>
            <a:srgbClr val="EEF2F8"/>
          </a:solidFill>
          <a:ln w="317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4498848" y="2747772"/>
            <a:ext cx="1005839" cy="2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5499"/>
                </a:solidFill>
                <a:latin typeface="Calibri"/>
              </a:rPr>
              <a:t>$2,000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541264" y="2720340"/>
            <a:ext cx="1060704" cy="260603"/>
          </a:xfrm>
          <a:prstGeom prst="rect">
            <a:avLst/>
          </a:prstGeom>
          <a:solidFill>
            <a:srgbClr val="FDF1ED"/>
          </a:solidFill>
          <a:ln w="317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577840" y="2747772"/>
            <a:ext cx="1005839" cy="2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8512A"/>
                </a:solidFill>
                <a:latin typeface="Calibri"/>
              </a:rPr>
              <a:t>$250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620256" y="2720340"/>
            <a:ext cx="1060704" cy="260603"/>
          </a:xfrm>
          <a:prstGeom prst="rect">
            <a:avLst/>
          </a:prstGeom>
          <a:solidFill>
            <a:srgbClr val="FDF1ED"/>
          </a:solidFill>
          <a:ln w="317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656832" y="2747772"/>
            <a:ext cx="1005839" cy="2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8512A"/>
                </a:solidFill>
                <a:latin typeface="Calibri"/>
              </a:rPr>
              <a:t>$500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56032" y="2980944"/>
            <a:ext cx="1481328" cy="260603"/>
          </a:xfrm>
          <a:prstGeom prst="rect">
            <a:avLst/>
          </a:prstGeom>
          <a:solidFill>
            <a:srgbClr val="FFFFFF"/>
          </a:solidFill>
          <a:ln w="317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292608" y="3008375"/>
            <a:ext cx="1426464" cy="2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B3A6B"/>
                </a:solidFill>
                <a:latin typeface="Calibri"/>
              </a:rPr>
              <a:t>VB-WJ  Wharton's Jelly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755648" y="2980944"/>
            <a:ext cx="658368" cy="260603"/>
          </a:xfrm>
          <a:prstGeom prst="rect">
            <a:avLst/>
          </a:prstGeom>
          <a:solidFill>
            <a:srgbClr val="FFFFFF"/>
          </a:solidFill>
          <a:ln w="317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792224" y="3008375"/>
            <a:ext cx="603503" cy="2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F3D"/>
                </a:solidFill>
                <a:latin typeface="Calibri"/>
              </a:rPr>
              <a:t>2.0 mL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432304" y="2980944"/>
            <a:ext cx="932688" cy="260603"/>
          </a:xfrm>
          <a:prstGeom prst="rect">
            <a:avLst/>
          </a:prstGeom>
          <a:solidFill>
            <a:srgbClr val="FFFFFF"/>
          </a:solidFill>
          <a:ln w="317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2468880" y="3008375"/>
            <a:ext cx="877824" cy="2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F3D"/>
                </a:solidFill>
                <a:latin typeface="Calibri"/>
              </a:rPr>
              <a:t>$2,000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383280" y="2980944"/>
            <a:ext cx="1060704" cy="260603"/>
          </a:xfrm>
          <a:prstGeom prst="rect">
            <a:avLst/>
          </a:prstGeom>
          <a:solidFill>
            <a:srgbClr val="FFFFFF"/>
          </a:solidFill>
          <a:ln w="317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3419856" y="3008375"/>
            <a:ext cx="1005839" cy="2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5499"/>
                </a:solidFill>
                <a:latin typeface="Calibri"/>
              </a:rPr>
              <a:t>$3,000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462272" y="2980944"/>
            <a:ext cx="1060704" cy="260603"/>
          </a:xfrm>
          <a:prstGeom prst="rect">
            <a:avLst/>
          </a:prstGeom>
          <a:solidFill>
            <a:srgbClr val="FFFFFF"/>
          </a:solidFill>
          <a:ln w="317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4498848" y="3008375"/>
            <a:ext cx="1005839" cy="2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5499"/>
                </a:solidFill>
                <a:latin typeface="Calibri"/>
              </a:rPr>
              <a:t>$4,000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541264" y="2980944"/>
            <a:ext cx="1060704" cy="260603"/>
          </a:xfrm>
          <a:prstGeom prst="rect">
            <a:avLst/>
          </a:prstGeom>
          <a:solidFill>
            <a:srgbClr val="FDF1ED"/>
          </a:solidFill>
          <a:ln w="317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5577840" y="3008375"/>
            <a:ext cx="1005839" cy="2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8512A"/>
                </a:solidFill>
                <a:latin typeface="Calibri"/>
              </a:rPr>
              <a:t>$500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620256" y="2980944"/>
            <a:ext cx="1060704" cy="260603"/>
          </a:xfrm>
          <a:prstGeom prst="rect">
            <a:avLst/>
          </a:prstGeom>
          <a:solidFill>
            <a:srgbClr val="FDF1ED"/>
          </a:solidFill>
          <a:ln w="317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6656832" y="3008375"/>
            <a:ext cx="1005839" cy="2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8512A"/>
                </a:solidFill>
                <a:latin typeface="Calibri"/>
              </a:rPr>
              <a:t>$1,000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56032" y="3241548"/>
            <a:ext cx="1481328" cy="260603"/>
          </a:xfrm>
          <a:prstGeom prst="rect">
            <a:avLst/>
          </a:prstGeom>
          <a:solidFill>
            <a:srgbClr val="EEF2F8"/>
          </a:solidFill>
          <a:ln w="317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292608" y="3268979"/>
            <a:ext cx="1426464" cy="2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B3A6B"/>
                </a:solidFill>
                <a:latin typeface="Calibri"/>
              </a:rPr>
              <a:t>VB-XO  Exosomes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755648" y="3241548"/>
            <a:ext cx="658368" cy="260603"/>
          </a:xfrm>
          <a:prstGeom prst="rect">
            <a:avLst/>
          </a:prstGeom>
          <a:solidFill>
            <a:srgbClr val="EEF2F8"/>
          </a:solidFill>
          <a:ln w="317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1792224" y="3268979"/>
            <a:ext cx="603503" cy="2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F3D"/>
                </a:solidFill>
                <a:latin typeface="Calibri"/>
              </a:rPr>
              <a:t>1.0 mL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432304" y="3241548"/>
            <a:ext cx="932688" cy="260603"/>
          </a:xfrm>
          <a:prstGeom prst="rect">
            <a:avLst/>
          </a:prstGeom>
          <a:solidFill>
            <a:srgbClr val="EEF2F8"/>
          </a:solidFill>
          <a:ln w="317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2468880" y="3268979"/>
            <a:ext cx="877824" cy="2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F3D"/>
                </a:solidFill>
                <a:latin typeface="Calibri"/>
              </a:rPr>
              <a:t>$900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383280" y="3241548"/>
            <a:ext cx="1060704" cy="260603"/>
          </a:xfrm>
          <a:prstGeom prst="rect">
            <a:avLst/>
          </a:prstGeom>
          <a:solidFill>
            <a:srgbClr val="EEF2F8"/>
          </a:solidFill>
          <a:ln w="317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3419856" y="3268979"/>
            <a:ext cx="1005839" cy="2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5499"/>
                </a:solidFill>
                <a:latin typeface="Calibri"/>
              </a:rPr>
              <a:t>$1,350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462272" y="3241548"/>
            <a:ext cx="1060704" cy="260603"/>
          </a:xfrm>
          <a:prstGeom prst="rect">
            <a:avLst/>
          </a:prstGeom>
          <a:solidFill>
            <a:srgbClr val="EEF2F8"/>
          </a:solidFill>
          <a:ln w="317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4498848" y="3268979"/>
            <a:ext cx="1005839" cy="2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5499"/>
                </a:solidFill>
                <a:latin typeface="Calibri"/>
              </a:rPr>
              <a:t>$1,800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541264" y="3241548"/>
            <a:ext cx="1060704" cy="260603"/>
          </a:xfrm>
          <a:prstGeom prst="rect">
            <a:avLst/>
          </a:prstGeom>
          <a:solidFill>
            <a:srgbClr val="FDF1ED"/>
          </a:solidFill>
          <a:ln w="317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5577840" y="3268979"/>
            <a:ext cx="1005839" cy="2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8512A"/>
                </a:solidFill>
                <a:latin typeface="Calibri"/>
              </a:rPr>
              <a:t>$225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620256" y="3241548"/>
            <a:ext cx="1060704" cy="260603"/>
          </a:xfrm>
          <a:prstGeom prst="rect">
            <a:avLst/>
          </a:prstGeom>
          <a:solidFill>
            <a:srgbClr val="FDF1ED"/>
          </a:solidFill>
          <a:ln w="317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6656832" y="3268979"/>
            <a:ext cx="1005839" cy="2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8512A"/>
                </a:solidFill>
                <a:latin typeface="Calibri"/>
              </a:rPr>
              <a:t>$450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56032" y="3502152"/>
            <a:ext cx="1481328" cy="260603"/>
          </a:xfrm>
          <a:prstGeom prst="rect">
            <a:avLst/>
          </a:prstGeom>
          <a:solidFill>
            <a:srgbClr val="FFFFFF"/>
          </a:solidFill>
          <a:ln w="317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292608" y="3529584"/>
            <a:ext cx="1426464" cy="2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B3A6B"/>
                </a:solidFill>
                <a:latin typeface="Calibri"/>
              </a:rPr>
              <a:t>VB-XO  Exosomes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755648" y="3502152"/>
            <a:ext cx="658368" cy="260603"/>
          </a:xfrm>
          <a:prstGeom prst="rect">
            <a:avLst/>
          </a:prstGeom>
          <a:solidFill>
            <a:srgbClr val="FFFFFF"/>
          </a:solidFill>
          <a:ln w="317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1792224" y="3529584"/>
            <a:ext cx="603503" cy="2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F3D"/>
                </a:solidFill>
                <a:latin typeface="Calibri"/>
              </a:rPr>
              <a:t>2.0 mL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432304" y="3502152"/>
            <a:ext cx="932688" cy="260603"/>
          </a:xfrm>
          <a:prstGeom prst="rect">
            <a:avLst/>
          </a:prstGeom>
          <a:solidFill>
            <a:srgbClr val="FFFFFF"/>
          </a:solidFill>
          <a:ln w="317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2468880" y="3529584"/>
            <a:ext cx="877824" cy="2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F3D"/>
                </a:solidFill>
                <a:latin typeface="Calibri"/>
              </a:rPr>
              <a:t>$1,000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3383280" y="3502152"/>
            <a:ext cx="1060704" cy="260603"/>
          </a:xfrm>
          <a:prstGeom prst="rect">
            <a:avLst/>
          </a:prstGeom>
          <a:solidFill>
            <a:srgbClr val="FFFFFF"/>
          </a:solidFill>
          <a:ln w="317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3419856" y="3529584"/>
            <a:ext cx="1005839" cy="2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5499"/>
                </a:solidFill>
                <a:latin typeface="Calibri"/>
              </a:rPr>
              <a:t>$1,500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462272" y="3502152"/>
            <a:ext cx="1060704" cy="260603"/>
          </a:xfrm>
          <a:prstGeom prst="rect">
            <a:avLst/>
          </a:prstGeom>
          <a:solidFill>
            <a:srgbClr val="FFFFFF"/>
          </a:solidFill>
          <a:ln w="317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4498848" y="3529584"/>
            <a:ext cx="1005839" cy="2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5499"/>
                </a:solidFill>
                <a:latin typeface="Calibri"/>
              </a:rPr>
              <a:t>$2,000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541264" y="3502152"/>
            <a:ext cx="1060704" cy="260603"/>
          </a:xfrm>
          <a:prstGeom prst="rect">
            <a:avLst/>
          </a:prstGeom>
          <a:solidFill>
            <a:srgbClr val="FDF1ED"/>
          </a:solidFill>
          <a:ln w="317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5577840" y="3529584"/>
            <a:ext cx="1005839" cy="2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8512A"/>
                </a:solidFill>
                <a:latin typeface="Calibri"/>
              </a:rPr>
              <a:t>$250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620256" y="3502152"/>
            <a:ext cx="1060704" cy="260603"/>
          </a:xfrm>
          <a:prstGeom prst="rect">
            <a:avLst/>
          </a:prstGeom>
          <a:solidFill>
            <a:srgbClr val="FDF1ED"/>
          </a:solidFill>
          <a:ln w="317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6656832" y="3529584"/>
            <a:ext cx="1005839" cy="2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8512A"/>
                </a:solidFill>
                <a:latin typeface="Calibri"/>
              </a:rPr>
              <a:t>$500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56032" y="3762756"/>
            <a:ext cx="1481328" cy="260603"/>
          </a:xfrm>
          <a:prstGeom prst="rect">
            <a:avLst/>
          </a:prstGeom>
          <a:solidFill>
            <a:srgbClr val="EEF2F8"/>
          </a:solidFill>
          <a:ln w="317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292608" y="3790188"/>
            <a:ext cx="1426464" cy="2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B3A6B"/>
                </a:solidFill>
                <a:latin typeface="Calibri"/>
              </a:rPr>
              <a:t>VB-ECM  Amniotic ECM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755648" y="3762756"/>
            <a:ext cx="658368" cy="260603"/>
          </a:xfrm>
          <a:prstGeom prst="rect">
            <a:avLst/>
          </a:prstGeom>
          <a:solidFill>
            <a:srgbClr val="EEF2F8"/>
          </a:solidFill>
          <a:ln w="317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1792224" y="3790188"/>
            <a:ext cx="603503" cy="2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F3D"/>
                </a:solidFill>
                <a:latin typeface="Calibri"/>
              </a:rPr>
              <a:t>1.0 mL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432304" y="3762756"/>
            <a:ext cx="932688" cy="260603"/>
          </a:xfrm>
          <a:prstGeom prst="rect">
            <a:avLst/>
          </a:prstGeom>
          <a:solidFill>
            <a:srgbClr val="EEF2F8"/>
          </a:solidFill>
          <a:ln w="317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2468880" y="3790188"/>
            <a:ext cx="877824" cy="2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F3D"/>
                </a:solidFill>
                <a:latin typeface="Calibri"/>
              </a:rPr>
              <a:t>$1,000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3383280" y="3762756"/>
            <a:ext cx="1060704" cy="260603"/>
          </a:xfrm>
          <a:prstGeom prst="rect">
            <a:avLst/>
          </a:prstGeom>
          <a:solidFill>
            <a:srgbClr val="EEF2F8"/>
          </a:solidFill>
          <a:ln w="317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3419856" y="3790188"/>
            <a:ext cx="1005839" cy="2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5499"/>
                </a:solidFill>
                <a:latin typeface="Calibri"/>
              </a:rPr>
              <a:t>$1,500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4462272" y="3762756"/>
            <a:ext cx="1060704" cy="260603"/>
          </a:xfrm>
          <a:prstGeom prst="rect">
            <a:avLst/>
          </a:prstGeom>
          <a:solidFill>
            <a:srgbClr val="EEF2F8"/>
          </a:solidFill>
          <a:ln w="317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4498848" y="3790188"/>
            <a:ext cx="1005839" cy="2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5499"/>
                </a:solidFill>
                <a:latin typeface="Calibri"/>
              </a:rPr>
              <a:t>$2,000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5541264" y="3762756"/>
            <a:ext cx="1060704" cy="260603"/>
          </a:xfrm>
          <a:prstGeom prst="rect">
            <a:avLst/>
          </a:prstGeom>
          <a:solidFill>
            <a:srgbClr val="FDF1ED"/>
          </a:solidFill>
          <a:ln w="317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5577840" y="3790188"/>
            <a:ext cx="1005839" cy="2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8512A"/>
                </a:solidFill>
                <a:latin typeface="Calibri"/>
              </a:rPr>
              <a:t>$250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620256" y="3762756"/>
            <a:ext cx="1060704" cy="260603"/>
          </a:xfrm>
          <a:prstGeom prst="rect">
            <a:avLst/>
          </a:prstGeom>
          <a:solidFill>
            <a:srgbClr val="FDF1ED"/>
          </a:solidFill>
          <a:ln w="317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6656832" y="3790188"/>
            <a:ext cx="1005839" cy="2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8512A"/>
                </a:solidFill>
                <a:latin typeface="Calibri"/>
              </a:rPr>
              <a:t>$500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256032" y="4023360"/>
            <a:ext cx="1481328" cy="260603"/>
          </a:xfrm>
          <a:prstGeom prst="rect">
            <a:avLst/>
          </a:prstGeom>
          <a:solidFill>
            <a:srgbClr val="FFFFFF"/>
          </a:solidFill>
          <a:ln w="317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292608" y="4050792"/>
            <a:ext cx="1426464" cy="2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B3A6B"/>
                </a:solidFill>
                <a:latin typeface="Calibri"/>
              </a:rPr>
              <a:t>VB-ECM  Amniotic ECM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755648" y="4023360"/>
            <a:ext cx="658368" cy="260603"/>
          </a:xfrm>
          <a:prstGeom prst="rect">
            <a:avLst/>
          </a:prstGeom>
          <a:solidFill>
            <a:srgbClr val="FFFFFF"/>
          </a:solidFill>
          <a:ln w="317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1792224" y="4050792"/>
            <a:ext cx="603503" cy="2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F3D"/>
                </a:solidFill>
                <a:latin typeface="Calibri"/>
              </a:rPr>
              <a:t>2.0 mL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2432304" y="4023360"/>
            <a:ext cx="932688" cy="260603"/>
          </a:xfrm>
          <a:prstGeom prst="rect">
            <a:avLst/>
          </a:prstGeom>
          <a:solidFill>
            <a:srgbClr val="FFFFFF"/>
          </a:solidFill>
          <a:ln w="317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2468880" y="4050792"/>
            <a:ext cx="877824" cy="2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0F1F3D"/>
                </a:solidFill>
                <a:latin typeface="Calibri"/>
              </a:rPr>
              <a:t>$2,000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383280" y="4023360"/>
            <a:ext cx="1060704" cy="260603"/>
          </a:xfrm>
          <a:prstGeom prst="rect">
            <a:avLst/>
          </a:prstGeom>
          <a:solidFill>
            <a:srgbClr val="FFFFFF"/>
          </a:solidFill>
          <a:ln w="317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3419856" y="4050792"/>
            <a:ext cx="1005839" cy="2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5499"/>
                </a:solidFill>
                <a:latin typeface="Calibri"/>
              </a:rPr>
              <a:t>$3,000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4462272" y="4023360"/>
            <a:ext cx="1060704" cy="260603"/>
          </a:xfrm>
          <a:prstGeom prst="rect">
            <a:avLst/>
          </a:prstGeom>
          <a:solidFill>
            <a:srgbClr val="FFFFFF"/>
          </a:solidFill>
          <a:ln w="317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4498848" y="4050792"/>
            <a:ext cx="1005839" cy="2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5499"/>
                </a:solidFill>
                <a:latin typeface="Calibri"/>
              </a:rPr>
              <a:t>$4,000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5541264" y="4023360"/>
            <a:ext cx="1060704" cy="260603"/>
          </a:xfrm>
          <a:prstGeom prst="rect">
            <a:avLst/>
          </a:prstGeom>
          <a:solidFill>
            <a:srgbClr val="FDF1ED"/>
          </a:solidFill>
          <a:ln w="317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5577840" y="4050792"/>
            <a:ext cx="1005839" cy="2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8512A"/>
                </a:solidFill>
                <a:latin typeface="Calibri"/>
              </a:rPr>
              <a:t>$500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620256" y="4023360"/>
            <a:ext cx="1060704" cy="260603"/>
          </a:xfrm>
          <a:prstGeom prst="rect">
            <a:avLst/>
          </a:prstGeom>
          <a:solidFill>
            <a:srgbClr val="FDF1ED"/>
          </a:solidFill>
          <a:ln w="317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6656832" y="4050792"/>
            <a:ext cx="1005839" cy="22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8512A"/>
                </a:solidFill>
                <a:latin typeface="Calibri"/>
              </a:rPr>
              <a:t>$1,000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56032" y="4279392"/>
            <a:ext cx="4114800" cy="420624"/>
          </a:xfrm>
          <a:prstGeom prst="rect">
            <a:avLst/>
          </a:prstGeom>
          <a:solidFill>
            <a:srgbClr val="EEF2F8"/>
          </a:solidFill>
          <a:ln w="6350">
            <a:solidFill>
              <a:srgbClr val="2D5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365760" y="4343400"/>
            <a:ext cx="3886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F3D"/>
                </a:solidFill>
                <a:latin typeface="Calibri"/>
              </a:rPr>
              <a:t>Formula:  Margin = Retail − Cost   |   Commission = Margin × 50%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4663440" y="4279392"/>
            <a:ext cx="4206240" cy="420624"/>
          </a:xfrm>
          <a:prstGeom prst="rect">
            <a:avLst/>
          </a:prstGeom>
          <a:solidFill>
            <a:srgbClr val="FDF1ED"/>
          </a:solidFill>
          <a:ln w="6350">
            <a:solidFill>
              <a:srgbClr val="E851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4773168" y="4325112"/>
            <a:ext cx="39776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F3D"/>
                </a:solidFill>
                <a:latin typeface="Calibri"/>
              </a:rPr>
              <a:t>Tip: Start new accounts at +75% over cost. Move to +50% for volume. Use +100% for medspa single-unit orders.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BDD0F0"/>
                </a:solidFill>
                <a:latin typeface="Calibri"/>
              </a:rPr>
              <a:t>CONFIDENTIAL  —  FOR VITAL BALANCE SALES TEAM USE ONLY  |  January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E85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VITAL BALANCE  —  Product Deep Dive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58952"/>
            <a:ext cx="4251960" cy="43159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2880" y="758952"/>
            <a:ext cx="4251960" cy="50292"/>
          </a:xfrm>
          <a:prstGeom prst="rect">
            <a:avLst/>
          </a:prstGeom>
          <a:solidFill>
            <a:srgbClr val="E85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868680"/>
            <a:ext cx="804672" cy="25603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868680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VB-CB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179576"/>
            <a:ext cx="3977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A6B"/>
                </a:solidFill>
                <a:latin typeface="Calibri"/>
              </a:rPr>
              <a:t>Umbilical Cord Blood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508760"/>
            <a:ext cx="3977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512A"/>
                </a:solidFill>
                <a:latin typeface="Calibri"/>
              </a:rPr>
              <a:t>Orthopedic  •  Systemic  •  Anti-Aging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746504"/>
            <a:ext cx="3977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A rich source of Mesenchymal Stem Cells and Hematopoietic Progenitor Cells. Ideal for orthopedic conditions, systemic immune support, and anti-aging protocols. Broadest administration route flexibility of all four products.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496312"/>
            <a:ext cx="3977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B3A6B"/>
                </a:solidFill>
                <a:latin typeface="Calibri"/>
              </a:rPr>
              <a:t>ADMINISTRATION METHODS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679192"/>
            <a:ext cx="3977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F3D"/>
                </a:solidFill>
                <a:latin typeface="Calibri"/>
              </a:rPr>
              <a:t>•  IV — Intravascular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880360"/>
            <a:ext cx="3977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F3D"/>
                </a:solidFill>
                <a:latin typeface="Calibri"/>
              </a:rPr>
              <a:t>•  IM — Intramuscular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081528"/>
            <a:ext cx="3977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F3D"/>
                </a:solidFill>
                <a:latin typeface="Calibri"/>
              </a:rPr>
              <a:t>•  ID — Intradermal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3282696"/>
            <a:ext cx="3977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F3D"/>
                </a:solidFill>
                <a:latin typeface="Calibri"/>
              </a:rPr>
              <a:t>•  IA — Intraarticular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3483864"/>
            <a:ext cx="3977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F3D"/>
                </a:solidFill>
                <a:latin typeface="Calibri"/>
              </a:rPr>
              <a:t>•  IT — Intrathecal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977639"/>
            <a:ext cx="3977640" cy="2286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0040" y="4032504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B3A6B"/>
                </a:solidFill>
                <a:latin typeface="Calibri"/>
              </a:rPr>
              <a:t>PRICING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4233672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E8512A"/>
                </a:solidFill>
                <a:latin typeface="Calibri"/>
              </a:rPr>
              <a:t>.50 mL  $500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233672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E8512A"/>
                </a:solidFill>
                <a:latin typeface="Calibri"/>
              </a:rPr>
              <a:t>1.0 mL  $900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1800" y="4233672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E8512A"/>
                </a:solidFill>
                <a:latin typeface="Calibri"/>
              </a:rPr>
              <a:t>2.0 mL  $1,800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4599432"/>
            <a:ext cx="3977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Calibri"/>
              </a:rPr>
              <a:t>Best for: Sports medicine, orthopedic practices, integrative medicine, anti-aging clinics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758952"/>
            <a:ext cx="4251960" cy="43159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663440" y="758952"/>
            <a:ext cx="4251960" cy="50292"/>
          </a:xfrm>
          <a:prstGeom prst="rect">
            <a:avLst/>
          </a:prstGeom>
          <a:solidFill>
            <a:srgbClr val="E85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800600" y="868680"/>
            <a:ext cx="804672" cy="25603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00600" y="868680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VB-WJ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1179576"/>
            <a:ext cx="3977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A6B"/>
                </a:solidFill>
                <a:latin typeface="Calibri"/>
              </a:rPr>
              <a:t>Wharton's Jelly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0600" y="1508760"/>
            <a:ext cx="3977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512A"/>
                </a:solidFill>
                <a:latin typeface="Calibri"/>
              </a:rPr>
              <a:t>Joint Pain  •  Orthopedic  •  Wound Healing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1746504"/>
            <a:ext cx="3977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Derived from umbilical cord Wharton's Jelly, rich in MSCs, collagen, and hyaluronic acid. Exceptional for joint repair and orthopedic applications. High concentration of regenerative matrix components.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2496312"/>
            <a:ext cx="3977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B3A6B"/>
                </a:solidFill>
                <a:latin typeface="Calibri"/>
              </a:rPr>
              <a:t>ADMINISTRATION METHODS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2679192"/>
            <a:ext cx="3977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F3D"/>
                </a:solidFill>
                <a:latin typeface="Calibri"/>
              </a:rPr>
              <a:t>•  IV — Intravascular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0600" y="2880360"/>
            <a:ext cx="3977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F3D"/>
                </a:solidFill>
                <a:latin typeface="Calibri"/>
              </a:rPr>
              <a:t>•  IM — Intramuscular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00600" y="3081528"/>
            <a:ext cx="3977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F3D"/>
                </a:solidFill>
                <a:latin typeface="Calibri"/>
              </a:rPr>
              <a:t>•  ID — Intradermal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00600" y="3282696"/>
            <a:ext cx="3977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F3D"/>
                </a:solidFill>
                <a:latin typeface="Calibri"/>
              </a:rPr>
              <a:t>•  IA — Intraarticular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3483864"/>
            <a:ext cx="3977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F3D"/>
                </a:solidFill>
                <a:latin typeface="Calibri"/>
              </a:rPr>
              <a:t>•  IT — Intrathecal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00600" y="3977639"/>
            <a:ext cx="3977640" cy="2286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800600" y="4032504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B3A6B"/>
                </a:solidFill>
                <a:latin typeface="Calibri"/>
              </a:rPr>
              <a:t>PRICING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00600" y="4233672"/>
            <a:ext cx="19888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E8512A"/>
                </a:solidFill>
                <a:latin typeface="Calibri"/>
              </a:rPr>
              <a:t>1.0 mL  $1,000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89420" y="4233672"/>
            <a:ext cx="19888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E8512A"/>
                </a:solidFill>
                <a:latin typeface="Calibri"/>
              </a:rPr>
              <a:t>2.0 mL  $2,000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00600" y="4599432"/>
            <a:ext cx="3977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Calibri"/>
              </a:rPr>
              <a:t>Best for: Orthopedic surgeons, pain management, sports medicine, wound care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9144000" cy="54864"/>
          </a:xfrm>
          <a:prstGeom prst="rect">
            <a:avLst/>
          </a:prstGeom>
          <a:solidFill>
            <a:srgbClr val="E85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VITAL BALANCE  —  Product Deep Dive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758952"/>
            <a:ext cx="4251960" cy="43159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2880" y="758952"/>
            <a:ext cx="4251960" cy="50292"/>
          </a:xfrm>
          <a:prstGeom prst="rect">
            <a:avLst/>
          </a:prstGeom>
          <a:solidFill>
            <a:srgbClr val="E85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868680"/>
            <a:ext cx="804672" cy="25603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868680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VB-XO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179576"/>
            <a:ext cx="3977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A6B"/>
                </a:solidFill>
                <a:latin typeface="Calibri"/>
              </a:rPr>
              <a:t>Exosomes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508760"/>
            <a:ext cx="3977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512A"/>
                </a:solidFill>
                <a:latin typeface="Calibri"/>
              </a:rPr>
              <a:t>Aesthetic  •  Anti-Aging  •  Neurological  •  Hair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746504"/>
            <a:ext cx="3977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Cell-derived exosomes containing MicroRNAs, lipids, proteins, and cytokines. The go-to product for medspa and aesthetic clinic accounts. Broadest application set including intranasal delivery. Highest demand in the aesthetic segment.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496312"/>
            <a:ext cx="3977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B3A6B"/>
                </a:solidFill>
                <a:latin typeface="Calibri"/>
              </a:rPr>
              <a:t>ADMINISTRATION METHODS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679192"/>
            <a:ext cx="3977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F3D"/>
                </a:solidFill>
                <a:latin typeface="Calibri"/>
              </a:rPr>
              <a:t>•  IV — Intravascular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2880360"/>
            <a:ext cx="3977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F3D"/>
                </a:solidFill>
                <a:latin typeface="Calibri"/>
              </a:rPr>
              <a:t>•  IM — Intramuscular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081528"/>
            <a:ext cx="3977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F3D"/>
                </a:solidFill>
                <a:latin typeface="Calibri"/>
              </a:rPr>
              <a:t>•  ID — Intradermal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3282696"/>
            <a:ext cx="3977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F3D"/>
                </a:solidFill>
                <a:latin typeface="Calibri"/>
              </a:rPr>
              <a:t>•  IA — Intraarticular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3483864"/>
            <a:ext cx="3977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F3D"/>
                </a:solidFill>
                <a:latin typeface="Calibri"/>
              </a:rPr>
              <a:t>•  IT — Intrathecal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3685032"/>
            <a:ext cx="3977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F3D"/>
                </a:solidFill>
                <a:latin typeface="Calibri"/>
              </a:rPr>
              <a:t>•  IN — Intranasal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977639"/>
            <a:ext cx="3977640" cy="2286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20040" y="4032504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B3A6B"/>
                </a:solidFill>
                <a:latin typeface="Calibri"/>
              </a:rPr>
              <a:t>PRICING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4233672"/>
            <a:ext cx="19888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E8512A"/>
                </a:solidFill>
                <a:latin typeface="Calibri"/>
              </a:rPr>
              <a:t>1.0 mL  $900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08860" y="4233672"/>
            <a:ext cx="19888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E8512A"/>
                </a:solidFill>
                <a:latin typeface="Calibri"/>
              </a:rPr>
              <a:t>2.0 mL  $1,000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4599432"/>
            <a:ext cx="3977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Calibri"/>
              </a:rPr>
              <a:t>Best for: Medical spas, aesthetic clinics, anti-aging, hair restoration, neurological support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758952"/>
            <a:ext cx="4251960" cy="43159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663440" y="758952"/>
            <a:ext cx="4251960" cy="50292"/>
          </a:xfrm>
          <a:prstGeom prst="rect">
            <a:avLst/>
          </a:prstGeom>
          <a:solidFill>
            <a:srgbClr val="E85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800600" y="868680"/>
            <a:ext cx="804672" cy="25603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00600" y="868680"/>
            <a:ext cx="8046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VB-ECM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1179576"/>
            <a:ext cx="3977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3A6B"/>
                </a:solidFill>
                <a:latin typeface="Calibri"/>
              </a:rPr>
              <a:t>Amniotic ECM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0600" y="1508760"/>
            <a:ext cx="3977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8512A"/>
                </a:solidFill>
                <a:latin typeface="Calibri"/>
              </a:rPr>
              <a:t>Tissue Repair  •  Anti-Inflammatory  •  Wound Care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1746504"/>
            <a:ext cx="3977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Calibri"/>
              </a:rPr>
              <a:t>Amniotic-derived extracellular matrix rich in structural proteins, cytokines, and growth factors. Exceptional anti-inflammatory and tissue-regenerating properties. Particularly effective for joint injections and wound care.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2496312"/>
            <a:ext cx="3977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B3A6B"/>
                </a:solidFill>
                <a:latin typeface="Calibri"/>
              </a:rPr>
              <a:t>ADMINISTRATION METHODS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2679192"/>
            <a:ext cx="3977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F3D"/>
                </a:solidFill>
                <a:latin typeface="Calibri"/>
              </a:rPr>
              <a:t>•  IM — Intramuscular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0600" y="2880360"/>
            <a:ext cx="3977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F3D"/>
                </a:solidFill>
                <a:latin typeface="Calibri"/>
              </a:rPr>
              <a:t>•  ID — Intradermal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00600" y="3081528"/>
            <a:ext cx="3977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F3D"/>
                </a:solidFill>
                <a:latin typeface="Calibri"/>
              </a:rPr>
              <a:t>•  IA — Intraarticular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00600" y="3282696"/>
            <a:ext cx="3977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F1F3D"/>
                </a:solidFill>
                <a:latin typeface="Calibri"/>
              </a:rPr>
              <a:t>•  IT — Intrathecal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00600" y="3977639"/>
            <a:ext cx="3977640" cy="2286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800600" y="4032504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B3A6B"/>
                </a:solidFill>
                <a:latin typeface="Calibri"/>
              </a:rPr>
              <a:t>PRICING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00600" y="4233672"/>
            <a:ext cx="19888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E8512A"/>
                </a:solidFill>
                <a:latin typeface="Calibri"/>
              </a:rPr>
              <a:t>1.0 mL  $1,000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89420" y="4233672"/>
            <a:ext cx="19888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E8512A"/>
                </a:solidFill>
                <a:latin typeface="Calibri"/>
              </a:rPr>
              <a:t>2.0 mL  $2,000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00600" y="4599432"/>
            <a:ext cx="3977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B7280"/>
                </a:solidFill>
                <a:latin typeface="Calibri"/>
              </a:rPr>
              <a:t>Best for: Orthopedic surgeons, wound care specialists, pain management, integrative medicine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E85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73152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VITAL BALANCE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20624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BDD0F0"/>
                </a:solidFill>
                <a:latin typeface="Calibri"/>
              </a:rPr>
              <a:t>Regenerative Wellness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09728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DD0F0"/>
                </a:solidFill>
                <a:latin typeface="Calibri"/>
              </a:rPr>
              <a:t>ORDERING &amp; DELIVERY GUIDE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841248"/>
            <a:ext cx="85953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1B3A6B"/>
                </a:solidFill>
                <a:latin typeface="Calibri"/>
              </a:rPr>
              <a:t>Ordering &amp; Delivery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261872"/>
            <a:ext cx="8595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B7280"/>
                </a:solidFill>
                <a:latin typeface="Calibri"/>
              </a:rPr>
              <a:t>Everything your clinic needs to know about placing and receiving orders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" y="1627632"/>
            <a:ext cx="2798064" cy="1920240"/>
          </a:xfrm>
          <a:prstGeom prst="rect">
            <a:avLst/>
          </a:prstGeom>
          <a:solidFill>
            <a:srgbClr val="EEF2F8"/>
          </a:solidFill>
          <a:ln w="6350">
            <a:solidFill>
              <a:srgbClr val="D0D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56032" y="1627632"/>
            <a:ext cx="2798064" cy="5029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810512"/>
            <a:ext cx="25786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3A6B"/>
                </a:solidFill>
                <a:latin typeface="Calibri"/>
              </a:rPr>
              <a:t>Overnight Shipping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139696"/>
            <a:ext cx="25786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Delivery by 10:30am. Products shipped with dry ice to maintain cold-chain integrity.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60704" y="2862072"/>
            <a:ext cx="1188720" cy="25603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60704" y="286207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$150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1627632"/>
            <a:ext cx="2798064" cy="1920240"/>
          </a:xfrm>
          <a:prstGeom prst="rect">
            <a:avLst/>
          </a:prstGeom>
          <a:solidFill>
            <a:srgbClr val="EEF2F8"/>
          </a:solidFill>
          <a:ln w="6350">
            <a:solidFill>
              <a:srgbClr val="D0D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0" y="1627632"/>
            <a:ext cx="2798064" cy="50292"/>
          </a:xfrm>
          <a:prstGeom prst="rect">
            <a:avLst/>
          </a:prstGeom>
          <a:solidFill>
            <a:srgbClr val="E85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10128" y="1810512"/>
            <a:ext cx="25786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3A6B"/>
                </a:solidFill>
                <a:latin typeface="Calibri"/>
              </a:rPr>
              <a:t>Local / Same-Day Delivery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0128" y="2139696"/>
            <a:ext cx="25786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Available in select service areas. Contact your sales rep to confirm eligibility.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05072" y="2862072"/>
            <a:ext cx="1188720" cy="256032"/>
          </a:xfrm>
          <a:prstGeom prst="rect">
            <a:avLst/>
          </a:prstGeom>
          <a:solidFill>
            <a:srgbClr val="E851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005072" y="286207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$35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4768" y="1627632"/>
            <a:ext cx="2798064" cy="1920240"/>
          </a:xfrm>
          <a:prstGeom prst="rect">
            <a:avLst/>
          </a:prstGeom>
          <a:solidFill>
            <a:srgbClr val="EEF2F8"/>
          </a:solidFill>
          <a:ln w="6350">
            <a:solidFill>
              <a:srgbClr val="D0D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44768" y="1627632"/>
            <a:ext cx="2798064" cy="50292"/>
          </a:xfrm>
          <a:prstGeom prst="rect">
            <a:avLst/>
          </a:prstGeom>
          <a:solidFill>
            <a:srgbClr val="2D5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54496" y="1810512"/>
            <a:ext cx="25786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B3A6B"/>
                </a:solidFill>
                <a:latin typeface="Calibri"/>
              </a:rPr>
              <a:t>Handling &amp; Packaging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4496" y="2139696"/>
            <a:ext cx="257860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All orders include cold-chain packaging, dry ice, and chain-of-custody documentation.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49440" y="2862072"/>
            <a:ext cx="1188720" cy="256032"/>
          </a:xfrm>
          <a:prstGeom prst="rect">
            <a:avLst/>
          </a:prstGeom>
          <a:solidFill>
            <a:srgbClr val="2D5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49440" y="286207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$15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" y="3657600"/>
            <a:ext cx="8631936" cy="98755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8912" y="37307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Quality &amp; Compliance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" y="4041648"/>
            <a:ext cx="4160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✓  All products sourced from an FDA-certified lab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" y="4297680"/>
            <a:ext cx="4160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✓  Certificate of Analysis (COA) available for every batch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36592" y="4041648"/>
            <a:ext cx="4160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✓  Full cold-chain documentation included with each shipment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36592" y="4297680"/>
            <a:ext cx="4160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✓  Chain of custody maintained from lab to delivery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82880" y="4892040"/>
            <a:ext cx="877824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BDD0F0"/>
                </a:solidFill>
                <a:latin typeface="Calibri"/>
              </a:rPr>
              <a:t>To place an order, contact your Vital Balance sales representative  •  vitalbalance.com  •  Regenerative Wellness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932</Words>
  <Application>Microsoft Office PowerPoint</Application>
  <PresentationFormat>On-screen Show (16:9)</PresentationFormat>
  <Paragraphs>190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Adam Mitchell</dc:creator>
  <cp:keywords/>
  <dc:description>generated using python-pptx</dc:description>
  <cp:lastModifiedBy>Adam Mitchell</cp:lastModifiedBy>
  <cp:revision>1</cp:revision>
  <dcterms:created xsi:type="dcterms:W3CDTF">2013-01-27T09:14:16Z</dcterms:created>
  <dcterms:modified xsi:type="dcterms:W3CDTF">2026-04-09T14:31:40Z</dcterms:modified>
  <cp:category/>
</cp:coreProperties>
</file>